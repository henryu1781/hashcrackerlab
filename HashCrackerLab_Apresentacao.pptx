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Segoe UI"/>
              </a:defRPr>
            </a:pPr>
            <a:r>
              <a:t>HashCrackerLab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D4FF"/>
                </a:solidFill>
                <a:latin typeface="Segoe UI"/>
              </a:defRPr>
            </a:pPr>
            <a:r>
              <a:t>Plataforma Integrada de Cibersegurança Ofensiva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38328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8C0"/>
                </a:solidFill>
                <a:latin typeface="Segoe UI"/>
              </a:defRPr>
            </a:pPr>
            <a:r>
              <a:t>Cracking de Hashes · WiFi WPA2 · Telnet Credential Harvesting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8C0"/>
                </a:solidFill>
                <a:latin typeface="Segoe UI"/>
              </a:defRPr>
            </a:pPr>
            <a:r>
              <a:t>Henrique Carvalho  ·  Gonçalo Ferro  ·  Francisco Silva  ·  Duarte Vilar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07880"/>
                </a:solidFill>
                <a:latin typeface="Segoe UI"/>
              </a:defRPr>
            </a:pPr>
            <a:r>
              <a:t>Projeto Final — Cibersegurança  |  Fevereiro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4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5361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Contexto e Motivação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4708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8C0"/>
                </a:solidFill>
                <a:latin typeface="Segoe UI"/>
              </a:defRPr>
            </a:pPr>
            <a:r>
              <a:t>Porquê este projeto?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4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94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Arquitetura do Laboratório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50545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8C0"/>
                </a:solidFill>
                <a:latin typeface="Segoe UI"/>
              </a:defRPr>
            </a:pPr>
            <a:r>
              <a:t>Rede isolada, 4 máquinas, 3 vetores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71216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4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529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Demo: WiFi WPA2 Cracking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16382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8C0"/>
                </a:solidFill>
                <a:latin typeface="Segoe UI"/>
              </a:defRPr>
            </a:pPr>
            <a:r>
              <a:t>Captura de handshake + cracking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29584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4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1129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Demo: Telnet Credential Capture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8221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8C0"/>
                </a:solidFill>
                <a:latin typeface="Segoe UI"/>
              </a:defRPr>
            </a:pPr>
            <a:r>
              <a:t>Wireshark — credenciais em texto claro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18795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4FF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16966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Demo: Hash Cracking CPU vs GPU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480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8C0"/>
                </a:solidFill>
                <a:latin typeface="Segoe UI"/>
              </a:defRPr>
            </a:pPr>
            <a:r>
              <a:t>15 passwords × 4 algoritmos × 5 ataques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46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4FF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82803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Resultados e Análise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1389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8C0"/>
                </a:solidFill>
                <a:latin typeface="Segoe UI"/>
              </a:defRPr>
            </a:pPr>
            <a:r>
              <a:t>Tabela comparativa + speedup 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50468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4FF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486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Conclusões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9729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8C0"/>
                </a:solidFill>
                <a:latin typeface="Segoe UI"/>
              </a:defRPr>
            </a:pPr>
            <a:r>
              <a:t>Algoritmo forte + password forte = segurança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Contexto e Motivação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00D4FF"/>
                </a:solidFill>
                <a:latin typeface="Segoe UI"/>
              </a:defRPr>
            </a:pPr>
            <a:r>
              <a:t>❝ Quão eficaz é a aceleração por GPU no cracking de passwords e como</a:t>
            </a:r>
            <a:br/>
            <a:r>
              <a:t>  a escolha do algoritmo de hashing influencia a resistência a ataques? 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4545"/>
                </a:solidFill>
                <a:latin typeface="Segoe UI"/>
              </a:defRPr>
            </a:pPr>
            <a:r>
              <a:t>O 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4545"/>
                </a:solidFill>
                <a:latin typeface="Segoe UI"/>
              </a:rPr>
              <a:t>▸ </a:t>
            </a:r>
            <a:r>
              <a:rPr sz="1600">
                <a:solidFill>
                  <a:srgbClr val="B0B8C0"/>
                </a:solidFill>
                <a:latin typeface="Segoe UI"/>
              </a:rPr>
              <a:t>Demos de segurança são manuais e não reprodutíveis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4545"/>
                </a:solidFill>
                <a:latin typeface="Segoe UI"/>
              </a:rPr>
              <a:t>▸ </a:t>
            </a:r>
            <a:r>
              <a:rPr sz="1600">
                <a:solidFill>
                  <a:srgbClr val="B0B8C0"/>
                </a:solidFill>
                <a:latin typeface="Segoe UI"/>
              </a:rPr>
              <a:t>Sem forma standard de comparar algoritmos de hashing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4545"/>
                </a:solidFill>
                <a:latin typeface="Segoe UI"/>
              </a:rPr>
              <a:t>▸ </a:t>
            </a:r>
            <a:r>
              <a:rPr sz="1600">
                <a:solidFill>
                  <a:srgbClr val="B0B8C0"/>
                </a:solidFill>
                <a:latin typeface="Segoe UI"/>
              </a:rPr>
              <a:t>Relação algoritmo ↔ hardware ↔ tempo raramente quantificada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4545"/>
                </a:solidFill>
                <a:latin typeface="Segoe UI"/>
              </a:rPr>
              <a:t>▸ </a:t>
            </a:r>
            <a:r>
              <a:rPr sz="1600">
                <a:solidFill>
                  <a:srgbClr val="B0B8C0"/>
                </a:solidFill>
                <a:latin typeface="Segoe UI"/>
              </a:rPr>
              <a:t>Ferramentas isoladas sem contexto nem métricas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743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  <a:latin typeface="Segoe UI"/>
              </a:defRPr>
            </a:pPr>
            <a:r>
              <a:t>A Nossa Solução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E676"/>
                </a:solidFill>
                <a:latin typeface="Segoe UI"/>
              </a:rPr>
              <a:t>▸ </a:t>
            </a:r>
            <a:r>
              <a:rPr sz="1600">
                <a:solidFill>
                  <a:srgbClr val="B0B8C0"/>
                </a:solidFill>
                <a:latin typeface="Segoe UI"/>
              </a:rPr>
              <a:t>Orquestrador Python — pipeline 100% automatizado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E676"/>
                </a:solidFill>
                <a:latin typeface="Segoe UI"/>
              </a:rPr>
              <a:t>▸ </a:t>
            </a:r>
            <a:r>
              <a:rPr sz="1600">
                <a:solidFill>
                  <a:srgbClr val="B0B8C0"/>
                </a:solidFill>
                <a:latin typeface="Segoe UI"/>
              </a:rPr>
              <a:t>Reprodutibilidade: seed fixa + salts determinísticos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E676"/>
                </a:solidFill>
                <a:latin typeface="Segoe UI"/>
              </a:rPr>
              <a:t>▸ </a:t>
            </a:r>
            <a:r>
              <a:rPr sz="1600">
                <a:solidFill>
                  <a:srgbClr val="B0B8C0"/>
                </a:solidFill>
                <a:latin typeface="Segoe UI"/>
              </a:rPr>
              <a:t>Multi-vetor: WiFi + Telnet + Hash Cracking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E676"/>
                </a:solidFill>
                <a:latin typeface="Segoe UI"/>
              </a:rPr>
              <a:t>▸ </a:t>
            </a:r>
            <a:r>
              <a:rPr sz="1600">
                <a:solidFill>
                  <a:srgbClr val="B0B8C0"/>
                </a:solidFill>
                <a:latin typeface="Segoe UI"/>
              </a:rPr>
              <a:t>Relatório comparativo CPU vs GPU automático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Arquitetura do Laboratório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8C0"/>
                </a:solidFill>
                <a:latin typeface="Segoe UI"/>
              </a:defRPr>
            </a:pPr>
            <a:r>
              <a:t>Rede Isolada — 192.168.100.0/24  |  Sem acesso à Internet  |  4 Máquinas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011680"/>
            <a:ext cx="3840480" cy="91440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0" y="2011680"/>
            <a:ext cx="50800" cy="914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0" y="2103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A500"/>
                </a:solidFill>
                <a:latin typeface="Segoe UI"/>
              </a:defRPr>
            </a:pPr>
            <a:r>
              <a:t>Router TP-Link  —  192.168.100.1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SSID: LAB-SERVERS  |  WPA2-PSK AES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74720"/>
            <a:ext cx="3200400" cy="137160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474720"/>
            <a:ext cx="50800" cy="137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566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4FF"/>
                </a:solidFill>
                <a:latin typeface="Segoe UI"/>
              </a:defRPr>
            </a:pPr>
            <a:r>
              <a:t>Henrique — Arch Linux (.10)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Orchestrator + GPU Cracking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605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NVIDIA OpenCL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89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Ethernet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3474720"/>
            <a:ext cx="3200400" cy="137160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3474720"/>
            <a:ext cx="50800" cy="13716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3566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E676"/>
                </a:solidFill>
                <a:latin typeface="Segoe UI"/>
              </a:defRPr>
            </a:pPr>
            <a:r>
              <a:t>Ferro — Kali Linux (.20)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931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WiFi Monitor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1605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Aircrack-ng + Hashcat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Captura WPA2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5303520"/>
            <a:ext cx="3474720" cy="11887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0" y="5303520"/>
            <a:ext cx="50800" cy="1188720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0" y="5394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BB86FC"/>
                </a:solidFill>
                <a:latin typeface="Segoe UI"/>
              </a:defRPr>
            </a:pPr>
            <a:r>
              <a:t>Francisco — Windows (.30)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5760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Telnet Server + Wireshark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9893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Captura de pacotes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5303520"/>
            <a:ext cx="3474720" cy="11887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0" y="5303520"/>
            <a:ext cx="50800" cy="1188720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5394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BB86FC"/>
                </a:solidFill>
                <a:latin typeface="Segoe UI"/>
              </a:defRPr>
            </a:pPr>
            <a:r>
              <a:t>Duarte — Windows (.40)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5760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Telnet Client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59893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Geração de tráfego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Pipeline de Execução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0"/>
            <a:ext cx="1645920" cy="11887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16459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4FF"/>
                </a:solidFill>
                <a:latin typeface="Segoe UI"/>
              </a:defRPr>
            </a:pPr>
            <a:r>
              <a:t>Config 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0"/>
                </a:solidFill>
                <a:latin typeface="Segoe UI"/>
              </a:defRPr>
            </a:pPr>
            <a:r>
              <a:t>Definição de</a:t>
            </a:r>
            <a:br/>
            <a:r>
              <a:t>parâmetros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063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D4FF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2743200"/>
            <a:ext cx="1645920" cy="11887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77440" y="2743200"/>
            <a:ext cx="16459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4FF"/>
                </a:solidFill>
                <a:latin typeface="Segoe UI"/>
              </a:defRPr>
            </a:pPr>
            <a:r>
              <a:t>Orchestrator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2918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0"/>
                </a:solidFill>
                <a:latin typeface="Segoe UI"/>
              </a:defRPr>
            </a:pPr>
            <a:r>
              <a:t>Coordena</a:t>
            </a:r>
            <a:br/>
            <a:r>
              <a:t>todo o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063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D4FF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743200"/>
            <a:ext cx="1645920" cy="11887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2743200"/>
            <a:ext cx="164592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  <a:latin typeface="Segoe UI"/>
              </a:defRPr>
            </a:pPr>
            <a:r>
              <a:t>Hash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2918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0"/>
                </a:solidFill>
                <a:latin typeface="Segoe UI"/>
              </a:defRPr>
            </a:pPr>
            <a:r>
              <a:t>15 pw × 4 algos</a:t>
            </a:r>
            <a:br/>
            <a:r>
              <a:t>= 60 hashes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063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D4FF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743200"/>
            <a:ext cx="1645920" cy="11887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743200"/>
            <a:ext cx="1645920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500"/>
                </a:solidFill>
                <a:latin typeface="Segoe UI"/>
              </a:defRPr>
            </a:pPr>
            <a:r>
              <a:t>Cracking</a:t>
            </a:r>
            <a:br/>
            <a:r>
              <a:t>GPU + CPU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2918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0"/>
                </a:solidFill>
                <a:latin typeface="Segoe UI"/>
              </a:defRPr>
            </a:pPr>
            <a:r>
              <a:t>5 modos</a:t>
            </a:r>
            <a:br/>
            <a:r>
              <a:t>de ataque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3063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D4FF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2743200"/>
            <a:ext cx="1645920" cy="11887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38160" y="2743200"/>
            <a:ext cx="1645920" cy="38100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B86FC"/>
                </a:solidFill>
                <a:latin typeface="Segoe UI"/>
              </a:defRPr>
            </a:pPr>
            <a:r>
              <a:t>Metrics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2918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0"/>
                </a:solidFill>
                <a:latin typeface="Segoe UI"/>
              </a:defRPr>
            </a:pPr>
            <a:r>
              <a:t>CSV + JSON</a:t>
            </a:r>
            <a:br/>
            <a:r>
              <a:t>agregação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063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D4FF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0" y="2743200"/>
            <a:ext cx="1645920" cy="11887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58400" y="2743200"/>
            <a:ext cx="164592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  <a:latin typeface="Segoe UI"/>
              </a:defRPr>
            </a:pPr>
            <a:r>
              <a:t>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32918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0"/>
                </a:solidFill>
                <a:latin typeface="Segoe UI"/>
              </a:defRPr>
            </a:pPr>
            <a:r>
              <a:t>REPORT.md</a:t>
            </a:r>
            <a:br/>
            <a:r>
              <a:t>+ gráficos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389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Módulos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937760"/>
            <a:ext cx="2103120" cy="7315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937760"/>
            <a:ext cx="2103120" cy="254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9834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E676"/>
                </a:solidFill>
                <a:latin typeface="Segoe UI"/>
              </a:defRPr>
            </a:pPr>
            <a:r>
              <a:t>hash_generator.py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257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0"/>
                </a:solidFill>
                <a:latin typeface="Segoe UI"/>
              </a:defRPr>
            </a:pPr>
            <a:r>
              <a:t>7 algoritmos (MD5 a Argon2)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0" y="4937760"/>
            <a:ext cx="2103120" cy="7315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0" y="4937760"/>
            <a:ext cx="210312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34640" y="49834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500"/>
                </a:solidFill>
                <a:latin typeface="Segoe UI"/>
              </a:defRPr>
            </a:pPr>
            <a:r>
              <a:t>cracking_manager.py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34640" y="5257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0"/>
                </a:solidFill>
                <a:latin typeface="Segoe UI"/>
              </a:defRPr>
            </a:pPr>
            <a:r>
              <a:t>4 modos de ataque hashcat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0" y="4937760"/>
            <a:ext cx="2103120" cy="7315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0" y="4937760"/>
            <a:ext cx="2103120" cy="25400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20640" y="49834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B86FC"/>
                </a:solidFill>
                <a:latin typeface="Segoe UI"/>
              </a:defRPr>
            </a:pPr>
            <a:r>
              <a:t>metrics_collector.py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5257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0"/>
                </a:solidFill>
                <a:latin typeface="Segoe UI"/>
              </a:defRPr>
            </a:pPr>
            <a:r>
              <a:t>CSV + JSON export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0" y="4937760"/>
            <a:ext cx="2103120" cy="7315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0" y="4937760"/>
            <a:ext cx="210312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0" y="49834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4FF"/>
                </a:solidFill>
                <a:latin typeface="Segoe UI"/>
              </a:defRPr>
            </a:pPr>
            <a:r>
              <a:t>network_manager.py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0" y="5257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0"/>
                </a:solidFill>
                <a:latin typeface="Segoe UI"/>
              </a:defRPr>
            </a:pPr>
            <a:r>
              <a:t>Validação de isolamento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601200" y="4937760"/>
            <a:ext cx="2103120" cy="7315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601200" y="4937760"/>
            <a:ext cx="2103120" cy="2540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2640" y="49834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4545"/>
                </a:solidFill>
                <a:latin typeface="Segoe UI"/>
              </a:defRPr>
            </a:pPr>
            <a:r>
              <a:t>cleanup_manager.py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2640" y="52578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0"/>
                </a:solidFill>
                <a:latin typeface="Segoe UI"/>
              </a:defRPr>
            </a:pPr>
            <a:r>
              <a:t>3-pass secure delete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Algoritmos de Hashing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Algoritmo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Hashcat Mode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Resistência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Velocidade GPU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MD5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0 / 20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Hash simples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Muito Baixa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22.5 GH/s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SHA-256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1400 / 1420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Hash + salt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Baixa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~4 GH/s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Bcrypt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3200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Adaptativo (cost)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Alta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~26 KH/s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Argon2id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34000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Memory-hard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Muito Alta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~140 H/s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Velocidade Relativa (GPU)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MD5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4617720"/>
            <a:ext cx="7315200" cy="22860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38360" y="4572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22.5 GH/s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83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SHA-256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5029200"/>
            <a:ext cx="2926080" cy="2286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49834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~4 GH/s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Bcrypt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5440680"/>
            <a:ext cx="101600" cy="2286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4760" y="5394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~26 KH/s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06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Argon2id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5852160"/>
            <a:ext cx="101600" cy="228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24760" y="5806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~140 H/s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5 Modos de Ataque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Modo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Flag Hashcat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Descrição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Keyspace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Dicionário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-a 0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rockyou.txt (14.3M passwords)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14.3M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Dict + Rules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-a 0 -r best66.rule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Mutações: P→p, a→@, +123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~950M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Brute-force PIN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-a 3 ?d?d?d?d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PINs 0000–9999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10K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Brute-force Padrão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-a 3 ?u?l?l?l?d?d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Ulll99 pattern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~11.8M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Híbrido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-a 6 wordlist ?d?d?d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Wordlist + sufixo 000–999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~14.3B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Amostra de Passwords (15 total)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502920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Categoria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Qtd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Exemplos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Expectativa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Fracas (Top 20)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123456, password, qwerty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Crackeadas em todos os algoritmos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Médias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summer2024, hunter42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Crackeadas em MD5/SHA-256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Fortes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X7k#mP9$vL2@, Cr¥pt0_L4b_99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Resistem a todos os ataques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Demo: WiFi WPA2 Cracking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45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Monitor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645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4FF"/>
                </a:solidFill>
                <a:latin typeface="Consolas"/>
              </a:defRPr>
            </a:pPr>
            <a:r>
              <a:t>airmon-ng start wlan00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Capturar todos os pacotes WiFi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148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Scan de Redes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1488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4FF"/>
                </a:solidFill>
                <a:latin typeface="Consolas"/>
              </a:defRPr>
            </a:pPr>
            <a:r>
              <a:t>wifi_cracker.py --scan-only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148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Encontrar LAB-SERVERS + BSSID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517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651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Captura Handshake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651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4FF"/>
                </a:solidFill>
                <a:latin typeface="Consolas"/>
              </a:defRPr>
            </a:pPr>
            <a:r>
              <a:t>wifi_cracker.py --capture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651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Aguardar 4-way handshake WPA2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154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154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Deauth Attack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1546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4FF"/>
                </a:solidFill>
                <a:latin typeface="Consolas"/>
              </a:defRPr>
            </a:pPr>
            <a:r>
              <a:t>wifi_cracker.py --deauth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154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Forçar reconexão dos clientes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57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657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Cracking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6576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4FF"/>
                </a:solidFill>
                <a:latin typeface="Consolas"/>
              </a:defRPr>
            </a:pPr>
            <a:r>
              <a:t>wifi_cracker.py --crack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657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Testar wordlist contra handshake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389120"/>
            <a:ext cx="10515600" cy="109728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389120"/>
            <a:ext cx="50800" cy="109728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4805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676"/>
                </a:solidFill>
                <a:latin typeface="Segoe UI"/>
              </a:defRPr>
            </a:pPr>
            <a:r>
              <a:t>Resultado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846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onsolas"/>
              </a:defRPr>
            </a:pPr>
            <a:r>
              <a:t>[+] PASSWORD ENCONTRADA: Cibersegura</a:t>
            </a:r>
            <a:br/>
            <a:r>
              <a:t>[+] Tempo: 3.2 segundos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5760720"/>
            <a:ext cx="10515600" cy="640080"/>
          </a:xfrm>
          <a:prstGeom prst="rect">
            <a:avLst/>
          </a:prstGeom>
          <a:solidFill>
            <a:srgbClr val="1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8064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A500"/>
                </a:solidFill>
                <a:latin typeface="Segoe UI"/>
              </a:defRPr>
            </a:pPr>
            <a:r>
              <a:t>⚠  Password com palavra e maiúscula cai em segundos. Proteção: passwords aleatórias ≥16 chars.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Demo: Telnet Credential Capture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 Que Acontece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BB86FC"/>
                </a:solidFill>
                <a:latin typeface="Segoe UI"/>
              </a:rPr>
              <a:t>▸ </a:t>
            </a:r>
            <a:r>
              <a:rPr sz="1500">
                <a:solidFill>
                  <a:srgbClr val="B0B8C0"/>
                </a:solidFill>
                <a:latin typeface="Segoe UI"/>
              </a:rPr>
              <a:t>Francisco inicia servidor Telnet (porta 23)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BB86FC"/>
                </a:solidFill>
                <a:latin typeface="Segoe UI"/>
              </a:rPr>
              <a:t>▸ </a:t>
            </a:r>
            <a:r>
              <a:rPr sz="1500">
                <a:solidFill>
                  <a:srgbClr val="B0B8C0"/>
                </a:solidFill>
                <a:latin typeface="Segoe UI"/>
              </a:rPr>
              <a:t>Francisco abre Wireshark (filtro: tcp.port == 23)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BB86FC"/>
                </a:solidFill>
                <a:latin typeface="Segoe UI"/>
              </a:rPr>
              <a:t>▸ </a:t>
            </a:r>
            <a:r>
              <a:rPr sz="1500">
                <a:solidFill>
                  <a:srgbClr val="B0B8C0"/>
                </a:solidFill>
                <a:latin typeface="Segoe UI"/>
              </a:rPr>
              <a:t>Duarte liga-se como admin / SecurePass123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BB86FC"/>
                </a:solidFill>
                <a:latin typeface="Segoe UI"/>
              </a:rPr>
              <a:t>▸ </a:t>
            </a:r>
            <a:r>
              <a:rPr sz="1500">
                <a:solidFill>
                  <a:srgbClr val="B0B8C0"/>
                </a:solidFill>
                <a:latin typeface="Segoe UI"/>
              </a:rPr>
              <a:t>Wireshark captura tudo em texto claro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645920"/>
            <a:ext cx="5486400" cy="274320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0" y="1645920"/>
            <a:ext cx="5486400" cy="25400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737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B86FC"/>
                </a:solidFill>
                <a:latin typeface="Segoe UI"/>
              </a:defRPr>
            </a:pPr>
            <a:r>
              <a:t>Wireshark — Pacotes Capturados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1945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4545"/>
                </a:solidFill>
                <a:latin typeface="Consolas"/>
              </a:defRPr>
            </a:pPr>
            <a:r>
              <a:t>#42  .40 → .30  Telnet: "admin"</a:t>
            </a:r>
            <a:br/>
            <a:r>
              <a:t>#43  .40 → .30  Telnet: "SecurePass123"</a:t>
            </a:r>
            <a:br/>
            <a:br/>
            <a:r>
              <a:t>⚠ Password visível em plaintext!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754880"/>
            <a:ext cx="10515600" cy="137160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4754880"/>
            <a:ext cx="50800" cy="13716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  <a:latin typeface="Segoe UI"/>
              </a:defRPr>
            </a:pPr>
            <a:r>
              <a:t>Solução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0352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0E676"/>
                </a:solidFill>
                <a:latin typeface="Segoe UI"/>
              </a:rPr>
              <a:t>▸ </a:t>
            </a:r>
            <a:r>
              <a:rPr sz="1500">
                <a:solidFill>
                  <a:srgbClr val="B0B8C0"/>
                </a:solidFill>
                <a:latin typeface="Segoe UI"/>
              </a:rPr>
              <a:t>Substituir Telnet por SSH — encripta todo o tráfego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0E676"/>
                </a:solidFill>
                <a:latin typeface="Segoe UI"/>
              </a:rPr>
              <a:t>▸ </a:t>
            </a:r>
            <a:r>
              <a:rPr sz="1500">
                <a:solidFill>
                  <a:srgbClr val="B0B8C0"/>
                </a:solidFill>
                <a:latin typeface="Segoe UI"/>
              </a:rPr>
              <a:t>No Wireshark, SSH mostra apenas dados cifrados (ruído)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Demo: Hash Cracking — CPU vs GPU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Segoe UI"/>
              </a:defRPr>
            </a:pPr>
            <a:r>
              <a:t>15 passwords  ×  4 algoritmos  =  60 hashes  ×  5 modos de ataque  ×  2 dispositivos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10515600" cy="54864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E676"/>
                </a:solidFill>
                <a:latin typeface="Consolas"/>
              </a:defRPr>
            </a:pPr>
            <a:r>
              <a:t>$ python orchestrator.py --config config/apresentacao_final.yaml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A500"/>
                </a:solidFill>
                <a:latin typeface="Segoe UI"/>
              </a:defRPr>
            </a:pPr>
            <a:r>
              <a:t>Resultados GPU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291840"/>
            <a:ext cx="4846320" cy="201168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E676"/>
                </a:solidFill>
                <a:latin typeface="Consolas"/>
              </a:defRPr>
            </a:pPr>
            <a:r>
              <a:t>[GPU] MD5:     10/15 — 1.8s</a:t>
            </a:r>
            <a:br/>
            <a:r>
              <a:t>[GPU] SHA-256:  9/15 — 4.2s</a:t>
            </a:r>
            <a:br/>
            <a:r>
              <a:t>[GPU] Bcrypt:   7/15 — 12s</a:t>
            </a:r>
            <a:br/>
            <a:r>
              <a:t>[GPU] Argon2:   6/15 — 28s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Segoe UI"/>
              </a:defRPr>
            </a:pPr>
            <a:r>
              <a:t>Resultados CPU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291840"/>
            <a:ext cx="4846320" cy="201168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3832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4545"/>
                </a:solidFill>
                <a:latin typeface="Consolas"/>
              </a:defRPr>
            </a:pPr>
            <a:r>
              <a:t>[CPU] MD5:     10/15 — 12s</a:t>
            </a:r>
            <a:br/>
            <a:r>
              <a:t>[CPU] SHA-256:  9/15 — 28s</a:t>
            </a:r>
            <a:br/>
            <a:r>
              <a:t>[CPU] Bcrypt:   7/15 — 85s</a:t>
            </a:r>
            <a:br/>
            <a:r>
              <a:t>[CPU] Argon2:   6/15 — timeout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577840"/>
            <a:ext cx="10515600" cy="822960"/>
          </a:xfrm>
          <a:prstGeom prst="rect">
            <a:avLst/>
          </a:prstGeom>
          <a:solidFill>
            <a:srgbClr val="0A14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6692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Segoe UI"/>
              </a:defRPr>
            </a:pPr>
            <a:r>
              <a:t>As 5 passwords fortes (ex: X7k#mP9$vL2@) resistiram a TODOS os 5 modos</a:t>
            </a:r>
            <a:br/>
            <a:r>
              <a:t>de ataque em TODOS os 4 algoritmos — GPU e CPU.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Resultados Comparativos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Algoritmo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Crackeadas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Taxa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Tempo GPU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Tempo CPU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Speedup</a:t>
                      </a:r>
                    </a:p>
                  </a:txBody>
                  <a:tcPr>
                    <a:solidFill>
                      <a:srgbClr val="151F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MD5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66.7%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1.8s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12.0s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6.7×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SHA-256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60.0%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4.2s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28.0s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6.7×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Bcrypt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46.7%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12.0s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85.0s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7.1×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Argon2id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40.0%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28.0s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timeout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&gt;6×</a:t>
                      </a:r>
                    </a:p>
                  </a:txBody>
                  <a:tcPr>
                    <a:solidFill>
                      <a:srgbClr val="121A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60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53.3%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~46s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&gt;180s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0B8C0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>
                    <a:solidFill>
                      <a:srgbClr val="0E151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Insights Principais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Segoe UI"/>
              </a:defRPr>
            </a:pPr>
            <a:r>
              <a:t>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5029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GPU é 6–7× mais rápida que CPU em todos os algoritmos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492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4545"/>
                </a:solidFill>
                <a:latin typeface="Segoe UI"/>
              </a:defRPr>
            </a:pPr>
            <a: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5349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MD5: 22.5 GH/s — completamente inadequado para passwords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Segoe UI"/>
              </a:defRPr>
            </a:pPr>
            <a: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Argon2 neutraliza a vantagem de hardware (memory-hard)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A500"/>
                </a:solidFill>
                <a:latin typeface="Segoe UI"/>
              </a:defRPr>
            </a:pPr>
            <a: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5989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Taxa global de 53% — password fraca = sem proteção independente do algoritmo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3093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76"/>
                </a:solidFill>
                <a:latin typeface="Segoe UI"/>
              </a:defRPr>
            </a:pPr>
            <a: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63093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5 passwords fortes: 0% crackeadas — segurança = algoritmo forte + password forte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Segurança Operacional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3200400" cy="155448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0800" cy="15544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4FF"/>
                </a:solidFill>
                <a:latin typeface="Segoe UI"/>
              </a:defRPr>
            </a:pPr>
            <a:r>
              <a:t>Rede Isolada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Sem rota default — NetworkManager valida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programaticamente antes de cada run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645920"/>
            <a:ext cx="3200400" cy="155448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0" y="1645920"/>
            <a:ext cx="50800" cy="155448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737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4545"/>
                </a:solidFill>
                <a:latin typeface="Segoe UI"/>
              </a:defRPr>
            </a:pPr>
            <a:r>
              <a:t>Limpeza Segura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3-pass overwrite de ficheiros sensíveis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317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(hashes, passwords, potfiles)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1645920"/>
            <a:ext cx="3200400" cy="155448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1645920"/>
            <a:ext cx="50800" cy="155448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E676"/>
                </a:solidFill>
                <a:latin typeface="Segoe UI"/>
              </a:defRPr>
            </a:pPr>
            <a:r>
              <a:t>Reprodutibilidade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Seed determinística + salts fixos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3317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= mesmos hashes em runs idênticos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840480"/>
            <a:ext cx="3200400" cy="155448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50800" cy="1554480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319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BB86FC"/>
                </a:solidFill>
                <a:latin typeface="Segoe UI"/>
              </a:defRPr>
            </a:pPr>
            <a:r>
              <a:t>Separação de Dados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976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safe_hashes.py separa hashes 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5262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passwords em plaintext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3840480"/>
            <a:ext cx="3200400" cy="155448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0" y="3840480"/>
            <a:ext cx="50800" cy="155448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9319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A500"/>
                </a:solidFill>
                <a:latin typeface="Segoe UI"/>
              </a:defRPr>
            </a:pPr>
            <a:r>
              <a:t>Anonimização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2976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Logs auto-anonimizados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5262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sem dados pessoais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0" y="3840480"/>
            <a:ext cx="3200400" cy="155448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0" y="3840480"/>
            <a:ext cx="50800" cy="15544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0" y="39319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4FF"/>
                </a:solidFill>
                <a:latin typeface="Segoe UI"/>
              </a:defRPr>
            </a:pPr>
            <a:r>
              <a:t>Config Validada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42976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Schema YAML validado antes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45262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8C0"/>
                </a:solidFill>
                <a:latin typeface="Segoe UI"/>
              </a:defRPr>
            </a:pPr>
            <a:r>
              <a:t>de qualquer execução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Timeline de Desenvolvimento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1645920"/>
            <a:ext cx="38100" cy="4572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4519" y="1737360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B0B8C0"/>
                </a:solidFill>
                <a:latin typeface="Segoe UI"/>
              </a:defRPr>
            </a:pPr>
            <a:r>
              <a:t>02 Fev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645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Segoe UI"/>
              </a:defRPr>
            </a:pPr>
            <a:r>
              <a:t>v0.1 — Fundação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0116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Pipeline base, WiFi, Telnet, setup scripts</a:t>
            </a:r>
          </a:p>
        </p:txBody>
      </p:sp>
      <p:sp>
        <p:nvSpPr>
          <p:cNvPr id="9" name="Oval 8"/>
          <p:cNvSpPr/>
          <p:nvPr/>
        </p:nvSpPr>
        <p:spPr>
          <a:xfrm>
            <a:off x="1874519" y="2926080"/>
            <a:ext cx="320040" cy="320040"/>
          </a:xfrm>
          <a:prstGeom prst="ellipse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B0B8C0"/>
                </a:solidFill>
                <a:latin typeface="Segoe UI"/>
              </a:defRPr>
            </a:pPr>
            <a:r>
              <a:t>06 Fev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834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  <a:latin typeface="Segoe UI"/>
              </a:defRPr>
            </a:pPr>
            <a:r>
              <a:t>v0.2 — Hardening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Windows Defender, validação, documentação</a:t>
            </a:r>
          </a:p>
        </p:txBody>
      </p:sp>
      <p:sp>
        <p:nvSpPr>
          <p:cNvPr id="13" name="Oval 12"/>
          <p:cNvSpPr/>
          <p:nvPr/>
        </p:nvSpPr>
        <p:spPr>
          <a:xfrm>
            <a:off x="1874519" y="4114800"/>
            <a:ext cx="320040" cy="320040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069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B0B8C0"/>
                </a:solidFill>
                <a:latin typeface="Segoe UI"/>
              </a:defRPr>
            </a:pPr>
            <a:r>
              <a:t>07–08 Fev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A500"/>
                </a:solidFill>
                <a:latin typeface="Segoe UI"/>
              </a:defRPr>
            </a:pPr>
            <a:r>
              <a:t>v0.3 — Integração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389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Multi-vetor, SHA-256 salted, regras hashcat</a:t>
            </a:r>
          </a:p>
        </p:txBody>
      </p:sp>
      <p:sp>
        <p:nvSpPr>
          <p:cNvPr id="17" name="Oval 16"/>
          <p:cNvSpPr/>
          <p:nvPr/>
        </p:nvSpPr>
        <p:spPr>
          <a:xfrm>
            <a:off x="1874519" y="5303520"/>
            <a:ext cx="320040" cy="320040"/>
          </a:xfrm>
          <a:prstGeom prst="ellipse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257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B0B8C0"/>
                </a:solidFill>
                <a:latin typeface="Segoe UI"/>
              </a:defRPr>
            </a:pPr>
            <a:r>
              <a:t>09 Fev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5212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B86FC"/>
                </a:solidFill>
                <a:latin typeface="Segoe UI"/>
              </a:defRPr>
            </a:pPr>
            <a:r>
              <a:t>v0.4 — Apresentação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5577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15 pw × 5 modos, rockyou 14.3M, bug fixes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Estatísticas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774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2377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commits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697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6974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dias de desenvolvimento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017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3017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ficheiros Python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33375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Segoe UI"/>
              </a:defRPr>
            </a:pPr>
            <a:r>
              <a:t>~4500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3375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linhas de código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6576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657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algoritmos de hashing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9776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9776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modos de ataque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2976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297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8C0"/>
                </a:solidFill>
                <a:latin typeface="Segoe UI"/>
              </a:defRPr>
            </a:pPr>
            <a:r>
              <a:t>SO suportados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Conclusões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2651760" cy="25603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51760" cy="381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676"/>
                </a:solidFill>
                <a:latin typeface="Segoe UI"/>
              </a:defRPr>
            </a:pPr>
            <a:r>
              <a:t>WiFi WPA2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3s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0"/>
                </a:solidFill>
                <a:latin typeface="Segoe UI"/>
              </a:defRPr>
            </a:pPr>
            <a:r>
              <a:t>Password crackeada em 3 segundos.</a:t>
            </a:r>
            <a:br/>
            <a:r>
              <a:t>Proteção: passwords longas e aleatórias (≥16 chars).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645920"/>
            <a:ext cx="2651760" cy="25603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645920"/>
            <a:ext cx="2651760" cy="38100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B86FC"/>
                </a:solidFill>
                <a:latin typeface="Segoe UI"/>
              </a:defRPr>
            </a:pPr>
            <a:r>
              <a:t>Telnet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0 encriptação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517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0"/>
                </a:solidFill>
                <a:latin typeface="Segoe UI"/>
              </a:defRPr>
            </a:pPr>
            <a:r>
              <a:t>Credenciais visíveis em texto claro no Wireshark.</a:t>
            </a:r>
            <a:br/>
            <a:r>
              <a:t>Proteção: usar SSH em vez de Telnet.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645920"/>
            <a:ext cx="2651760" cy="25603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645920"/>
            <a:ext cx="2651760" cy="38100"/>
          </a:xfrm>
          <a:prstGeom prst="rect">
            <a:avLst/>
          </a:prstGeom>
          <a:solidFill>
            <a:srgbClr val="FF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4545"/>
                </a:solidFill>
                <a:latin typeface="Segoe UI"/>
              </a:defRPr>
            </a:pPr>
            <a:r>
              <a:t>MD5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22.5 GH/s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6517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0"/>
                </a:solidFill>
                <a:latin typeface="Segoe UI"/>
              </a:defRPr>
            </a:pPr>
            <a:r>
              <a:t>22.5 GH/s na GPU — completamente inadequado.</a:t>
            </a:r>
            <a:br/>
            <a:r>
              <a:t>16× mais rápido que CPU.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645920"/>
            <a:ext cx="2651760" cy="256032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645920"/>
            <a:ext cx="265176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Segoe UI"/>
              </a:defRPr>
            </a:pPr>
            <a:r>
              <a:t>Argon2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140 H/s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6517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0"/>
                </a:solidFill>
                <a:latin typeface="Segoe UI"/>
              </a:defRPr>
            </a:pPr>
            <a:r>
              <a:t>Memory-hard — neutraliza vantagem da GPU.</a:t>
            </a:r>
            <a:br/>
            <a:r>
              <a:t>Timeout no CPU prova eficácia.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754880"/>
            <a:ext cx="9418320" cy="1097280"/>
          </a:xfrm>
          <a:prstGeom prst="rect">
            <a:avLst/>
          </a:prstGeom>
          <a:solidFill>
            <a:srgbClr val="1A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71600" y="4754880"/>
            <a:ext cx="94183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49834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4FF"/>
                </a:solidFill>
                <a:latin typeface="Segoe UI"/>
              </a:defRPr>
            </a:pPr>
            <a:r>
              <a:t>Segurança = Algoritmo Forte + Password Forte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4406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8C0"/>
                </a:solidFill>
                <a:latin typeface="Segoe UI"/>
              </a:defRPr>
            </a:pPr>
            <a:r>
              <a:t>Sem os dois em simultâneo, estamos vulneráveis.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Segoe UI"/>
              </a:defRPr>
            </a:pPr>
            <a:r>
              <a:t>Obrigado!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00D4FF"/>
                </a:solidFill>
                <a:latin typeface="Segoe UI"/>
              </a:defRPr>
            </a:pPr>
            <a: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657600"/>
            <a:ext cx="21031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8C0"/>
                </a:solidFill>
                <a:latin typeface="Segoe UI"/>
              </a:defRPr>
            </a:pPr>
            <a:r>
              <a:t>Henrique Carvalho  ·  Gonçalo Ferro  ·  Francisco Silva  ·  Duarte Vilar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07880"/>
                </a:solidFill>
                <a:latin typeface="Segoe UI"/>
              </a:defRPr>
            </a:pPr>
            <a:r>
              <a:t>Projeto Final — Cibersegurança  |  Fevereiro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4FF"/>
                </a:solidFill>
                <a:latin typeface="Segoe UI"/>
              </a:defRPr>
            </a:pPr>
            <a:r>
              <a:t>github.com/Henryu1781/HashCrackerLab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